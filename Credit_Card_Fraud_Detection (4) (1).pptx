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transactions (%)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323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592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Legitimate</c:v>
                  </c:pt>
                  <c:pt idx="1">
                    <c:v>Fraudulent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99.83</c:v>
                </c:pt>
                <c:pt idx="1">
                  <c:v>0.17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323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233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400800" cy="64008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914400"/>
            <a:ext cx="3840480" cy="3840480"/>
          </a:xfrm>
          <a:prstGeom prst="ellipse">
            <a:avLst/>
          </a:prstGeom>
          <a:solidFill>
            <a:srgbClr val="1B376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SYSTEMS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 Fraud Detection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Logistic Regression and Isolation-Forest Anomaly Detection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40233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023360"/>
            <a:ext cx="6035040" cy="1691640"/>
          </a:xfrm>
          <a:prstGeom prst="roundRect">
            <a:avLst>
              <a:gd name="adj" fmla="val 5405"/>
            </a:avLst>
          </a:prstGeom>
          <a:solidFill>
            <a:srgbClr val="0F2547"/>
          </a:solidFill>
          <a:ln w="12700">
            <a:solidFill>
              <a:srgbClr val="2440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45262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Yashwanth Sai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2520030036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51560" y="51206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Dhanvin Gupta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2520030604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Logistic Regression &amp; Isolation Forest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E9EE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Hard, and What We Set Out to 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72" dirty="0"/>
          </a:p>
        </p:txBody>
      </p:sp>
      <p:sp>
        <p:nvSpPr>
          <p:cNvPr id="8" name="Text 6"/>
          <p:cNvSpPr/>
          <p:nvPr/>
        </p:nvSpPr>
        <p:spPr>
          <a:xfrm>
            <a:off x="914400" y="19293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class imbalance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21284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typically under 0.2% of transactions — accuracy alone is meaningless.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72" dirty="0"/>
          </a:p>
        </p:txBody>
      </p:sp>
      <p:sp>
        <p:nvSpPr>
          <p:cNvPr id="12" name="Text 10"/>
          <p:cNvSpPr/>
          <p:nvPr/>
        </p:nvSpPr>
        <p:spPr>
          <a:xfrm>
            <a:off x="914400" y="27066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 &amp; novel attacks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99008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patterns evolve; purely supervised models miss patterns unlike anything labelled.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72" dirty="0"/>
          </a:p>
        </p:txBody>
      </p:sp>
      <p:sp>
        <p:nvSpPr>
          <p:cNvPr id="16" name="Text 14"/>
          <p:cNvSpPr/>
          <p:nvPr/>
        </p:nvSpPr>
        <p:spPr>
          <a:xfrm>
            <a:off x="914400" y="34838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asymmetry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376732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fraud (false negative) costs far more than a false alarm.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57200" y="4837176"/>
            <a:ext cx="109728" cy="109728"/>
          </a:xfrm>
          <a:prstGeom prst="ellipse">
            <a:avLst/>
          </a:prstGeom>
          <a:solidFill>
            <a:srgbClr val="E8592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745736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regularised Logistic Regression baseline for known fraud patterns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57200" y="5202936"/>
            <a:ext cx="109728" cy="109728"/>
          </a:xfrm>
          <a:prstGeom prst="ellipse">
            <a:avLst/>
          </a:prstGeom>
          <a:solidFill>
            <a:srgbClr val="E8592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111496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Isolation Forest to catch anomalies with no fraud label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57200" y="5568696"/>
            <a:ext cx="109728" cy="109728"/>
          </a:xfrm>
          <a:prstGeom prst="ellipse">
            <a:avLst/>
          </a:prstGeom>
          <a:solidFill>
            <a:srgbClr val="E8592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477256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both into one risk-scoring system and evaluate under real imbalance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903720" y="1554480"/>
            <a:ext cx="4846320" cy="4572000"/>
          </a:xfrm>
          <a:prstGeom prst="roundRect">
            <a:avLst>
              <a:gd name="adj" fmla="val 2400"/>
            </a:avLst>
          </a:prstGeom>
          <a:solidFill>
            <a:srgbClr val="0B1F3F"/>
          </a:solidFill>
          <a:ln/>
        </p:spPr>
      </p:sp>
      <p:sp>
        <p:nvSpPr>
          <p:cNvPr id="26" name="Text 24"/>
          <p:cNvSpPr/>
          <p:nvPr/>
        </p:nvSpPr>
        <p:spPr>
          <a:xfrm>
            <a:off x="7178040" y="1783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FRAUD 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20116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85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0.2%</a:t>
            </a:r>
            <a:endParaRPr lang="en-US" sz="5800" dirty="0"/>
          </a:p>
        </p:txBody>
      </p:sp>
      <p:sp>
        <p:nvSpPr>
          <p:cNvPr id="28" name="Text 26"/>
          <p:cNvSpPr/>
          <p:nvPr/>
        </p:nvSpPr>
        <p:spPr>
          <a:xfrm>
            <a:off x="7178040" y="29992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are fraudulent in most real-world card datasets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78040" y="3703320"/>
            <a:ext cx="4114800" cy="0"/>
          </a:xfrm>
          <a:prstGeom prst="line">
            <a:avLst/>
          </a:prstGeom>
          <a:noFill/>
          <a:ln w="12700">
            <a:solidFill>
              <a:srgbClr val="2440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38862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predicting "legitimate" every time is still 99.8% accurate — and completely useless.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178040" y="4800600"/>
            <a:ext cx="4114800" cy="0"/>
          </a:xfrm>
          <a:prstGeom prst="line">
            <a:avLst/>
          </a:prstGeom>
          <a:noFill/>
          <a:ln w="12700">
            <a:solidFill>
              <a:srgbClr val="2440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49834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precision, recall, and PR-AUC replace accuracy as the metrics that matter.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Logistic Regression &amp; Isolation Forest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E9EE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Data, and How We Prepare It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European cardholder transactions over 48 hours — the standard fraud-detection benchmark. Most features are PCA components (V1–V28) plus raw Time and Amount.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73152" cy="457200"/>
          </a:xfrm>
          <a:prstGeom prst="rect">
            <a:avLst/>
          </a:prstGeom>
          <a:solidFill>
            <a:srgbClr val="E859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408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~2.85 lakh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over 48 hours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73152" cy="457200"/>
          </a:xfrm>
          <a:prstGeom prst="rect">
            <a:avLst/>
          </a:prstGeom>
          <a:solidFill>
            <a:srgbClr val="E8592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077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features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29443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PCA components + Time + Amount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73152" cy="457200"/>
          </a:xfrm>
          <a:prstGeom prst="rect">
            <a:avLst/>
          </a:prstGeom>
          <a:solidFill>
            <a:srgbClr val="E859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74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~0.17%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35112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fraudulent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Essentials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56285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5312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Amount/Time  </a:t>
            </a:r>
            <a:pPr indent="0" marL="0"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 gradient descent converges and split-based models aren't skewed by magnitude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457200" y="502005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91032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train/val/test split  </a:t>
            </a:r>
            <a:pPr indent="0" marL="0"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preserves the true ~0.17% fraud ratio in every split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57200" y="547725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6752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+ threshold tuning  </a:t>
            </a:r>
            <a:pPr indent="0" marL="0"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penalise missed fraud, don't default to a 0.5 cutoff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949440" y="1554480"/>
            <a:ext cx="480060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737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(ILLUSTRATIVE)</a:t>
            </a:r>
            <a:endParaRPr lang="en-US" sz="10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7223760" y="2103120"/>
          <a:ext cx="4297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Logistic Regression &amp; Isolation Forest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B376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ML Lifecycle, Applied to Fraud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is more than a notebook model — it's a pipeline that runs continuously against live transactions.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4944" y="25146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32A5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60604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" y="3067812"/>
            <a:ext cx="1271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Card-swipe events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130552" y="2944368"/>
            <a:ext cx="109728" cy="146304"/>
          </a:xfrm>
          <a:prstGeom prst="rightArrow">
            <a:avLst/>
          </a:prstGeom>
          <a:solidFill>
            <a:srgbClr val="9FB3D1"/>
          </a:solidFill>
          <a:ln/>
        </p:spPr>
      </p:sp>
      <p:sp>
        <p:nvSpPr>
          <p:cNvPr id="10" name="Shape 8"/>
          <p:cNvSpPr/>
          <p:nvPr/>
        </p:nvSpPr>
        <p:spPr>
          <a:xfrm>
            <a:off x="2258568" y="25146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32A52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260604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31720" y="3067812"/>
            <a:ext cx="1271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joins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694176" y="2944368"/>
            <a:ext cx="109728" cy="146304"/>
          </a:xfrm>
          <a:prstGeom prst="rightArrow">
            <a:avLst/>
          </a:prstGeom>
          <a:solidFill>
            <a:srgbClr val="9FB3D1"/>
          </a:solidFill>
          <a:ln/>
        </p:spPr>
      </p:sp>
      <p:sp>
        <p:nvSpPr>
          <p:cNvPr id="14" name="Shape 12"/>
          <p:cNvSpPr/>
          <p:nvPr/>
        </p:nvSpPr>
        <p:spPr>
          <a:xfrm>
            <a:off x="3822192" y="25146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32A52"/>
          </a:solidFill>
          <a:ln/>
        </p:spPr>
      </p:sp>
      <p:sp>
        <p:nvSpPr>
          <p:cNvPr id="15" name="Text 13"/>
          <p:cNvSpPr/>
          <p:nvPr/>
        </p:nvSpPr>
        <p:spPr>
          <a:xfrm>
            <a:off x="3895344" y="260604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95344" y="3067812"/>
            <a:ext cx="1271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PCA feats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5257800" y="2944368"/>
            <a:ext cx="109728" cy="146304"/>
          </a:xfrm>
          <a:prstGeom prst="rightArrow">
            <a:avLst/>
          </a:prstGeom>
          <a:solidFill>
            <a:srgbClr val="9FB3D1"/>
          </a:solidFill>
          <a:ln/>
        </p:spPr>
      </p:sp>
      <p:sp>
        <p:nvSpPr>
          <p:cNvPr id="18" name="Shape 16"/>
          <p:cNvSpPr/>
          <p:nvPr/>
        </p:nvSpPr>
        <p:spPr>
          <a:xfrm>
            <a:off x="5385816" y="25146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32A52"/>
          </a:solidFill>
          <a:ln/>
        </p:spPr>
      </p:sp>
      <p:sp>
        <p:nvSpPr>
          <p:cNvPr id="19" name="Text 17"/>
          <p:cNvSpPr/>
          <p:nvPr/>
        </p:nvSpPr>
        <p:spPr>
          <a:xfrm>
            <a:off x="5458968" y="260604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58968" y="3067812"/>
            <a:ext cx="1271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+ iForest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821424" y="2944368"/>
            <a:ext cx="109728" cy="146304"/>
          </a:xfrm>
          <a:prstGeom prst="rightArrow">
            <a:avLst/>
          </a:prstGeom>
          <a:solidFill>
            <a:srgbClr val="9FB3D1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0" y="25146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32A52"/>
          </a:solidFill>
          <a:ln/>
        </p:spPr>
      </p:sp>
      <p:sp>
        <p:nvSpPr>
          <p:cNvPr id="23" name="Text 21"/>
          <p:cNvSpPr/>
          <p:nvPr/>
        </p:nvSpPr>
        <p:spPr>
          <a:xfrm>
            <a:off x="7022592" y="260604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Model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22592" y="3067812"/>
            <a:ext cx="1271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artifact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8385048" y="2944368"/>
            <a:ext cx="109728" cy="146304"/>
          </a:xfrm>
          <a:prstGeom prst="rightArrow">
            <a:avLst/>
          </a:prstGeom>
          <a:solidFill>
            <a:srgbClr val="9FB3D1"/>
          </a:solidFill>
          <a:ln/>
        </p:spPr>
      </p:sp>
      <p:sp>
        <p:nvSpPr>
          <p:cNvPr id="26" name="Shape 24"/>
          <p:cNvSpPr/>
          <p:nvPr/>
        </p:nvSpPr>
        <p:spPr>
          <a:xfrm>
            <a:off x="8513064" y="25146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E8592A"/>
          </a:solidFill>
          <a:ln/>
        </p:spPr>
      </p:sp>
      <p:sp>
        <p:nvSpPr>
          <p:cNvPr id="27" name="Text 25"/>
          <p:cNvSpPr/>
          <p:nvPr/>
        </p:nvSpPr>
        <p:spPr>
          <a:xfrm>
            <a:off x="8586216" y="260604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Endpoint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86216" y="3067812"/>
            <a:ext cx="1271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9948672" y="2944368"/>
            <a:ext cx="109728" cy="146304"/>
          </a:xfrm>
          <a:prstGeom prst="rightArrow">
            <a:avLst/>
          </a:prstGeom>
          <a:solidFill>
            <a:srgbClr val="9FB3D1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76688" y="25146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32A52"/>
          </a:solidFill>
          <a:ln/>
        </p:spPr>
      </p:sp>
      <p:sp>
        <p:nvSpPr>
          <p:cNvPr id="31" name="Text 29"/>
          <p:cNvSpPr/>
          <p:nvPr/>
        </p:nvSpPr>
        <p:spPr>
          <a:xfrm>
            <a:off x="10149840" y="2606040"/>
            <a:ext cx="1271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149840" y="3067812"/>
            <a:ext cx="1271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&amp; skew checks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4530852" y="3520440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0785348" y="3520440"/>
            <a:ext cx="0" cy="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530852" y="3794760"/>
            <a:ext cx="625449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  <a:headEnd type="triangle"/>
          </a:ln>
        </p:spPr>
      </p:sp>
      <p:sp>
        <p:nvSpPr>
          <p:cNvPr id="36" name="Text 34"/>
          <p:cNvSpPr/>
          <p:nvPr/>
        </p:nvSpPr>
        <p:spPr>
          <a:xfrm>
            <a:off x="3342132" y="386791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loop — triggered on schedule or on detected data drift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525780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13294B"/>
          </a:solidFill>
          <a:ln w="12700">
            <a:solidFill>
              <a:srgbClr val="2440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" y="5468112"/>
            <a:ext cx="502920" cy="502920"/>
          </a:xfrm>
          <a:prstGeom prst="ellipse">
            <a:avLst/>
          </a:prstGeom>
          <a:solidFill>
            <a:srgbClr val="E8592A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5468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85" dirty="0"/>
          </a:p>
        </p:txBody>
      </p:sp>
      <p:sp>
        <p:nvSpPr>
          <p:cNvPr id="40" name="Text 38"/>
          <p:cNvSpPr/>
          <p:nvPr/>
        </p:nvSpPr>
        <p:spPr>
          <a:xfrm>
            <a:off x="1325880" y="539496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production bug: training-serving skew.  </a:t>
            </a:r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features are computed differently offline (training) vs. online (serving), the live model silently sees data unlike what it trained on — this is why feature stores exist.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Logistic Regression &amp; Isolation Forest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E9EE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Regression: The Supervised Core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model: legitimate (0) vs. fraudulent (1), trained on labelled historical transactions.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84832"/>
            <a:ext cx="6583680" cy="960120"/>
          </a:xfrm>
          <a:prstGeom prst="roundRect">
            <a:avLst>
              <a:gd name="adj" fmla="val 9524"/>
            </a:avLst>
          </a:prstGeom>
          <a:solidFill>
            <a:srgbClr val="0B1F3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8483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P(fraud | x)  =  σ(wᵀx + b)  =  1 / (1 + e^-(wᵀx + b))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3347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sigmoid squashes any real-valued score into a probability between 0 and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31720" y="32461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hyperplane in feature space; distance from it becomes a probability via the sigmoid.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8679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31720" y="38679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by minimising cross-entropy loss via gradient descent.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4897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31720" y="448970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(Ridge) shrinks coefficients; L1 (Lasso) zeroes out weak features; Elastic Net blends both.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60920" y="1572768"/>
            <a:ext cx="4370832" cy="4553712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 THIS PROBLEM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2194560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8028432" y="213969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calibratable probabilities, so alerts can be ranked by risk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635240" y="2953512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7635240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10" dirty="0"/>
          </a:p>
        </p:txBody>
      </p:sp>
      <p:sp>
        <p:nvSpPr>
          <p:cNvPr id="22" name="Text 20"/>
          <p:cNvSpPr/>
          <p:nvPr/>
        </p:nvSpPr>
        <p:spPr>
          <a:xfrm>
            <a:off x="8028432" y="28986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and score in real time — critical for a live payment endpoint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7635240" y="3712464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10" dirty="0"/>
          </a:p>
        </p:txBody>
      </p:sp>
      <p:sp>
        <p:nvSpPr>
          <p:cNvPr id="25" name="Text 23"/>
          <p:cNvSpPr/>
          <p:nvPr/>
        </p:nvSpPr>
        <p:spPr>
          <a:xfrm>
            <a:off x="8028432" y="3657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interpretable — analysts see which features drive an alert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7635240" y="4471416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8028432" y="441655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directly addresses the extreme label imbalance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7635240" y="5230368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0" name="Text 28"/>
          <p:cNvSpPr/>
          <p:nvPr/>
        </p:nvSpPr>
        <p:spPr>
          <a:xfrm>
            <a:off x="7635240" y="5230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8028432" y="517550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auditable baseline that regulators and analysts trust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Logistic Regression &amp; Isolation Forest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E9EE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Forest: Catching the Unknown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unsupervised, tree-based anomaly detector: it doesn't need fraud labels — it learns what "normal" looks like and flags what's easy to isolate.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960120" y="216712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partitioning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many trees, each splitting on a random feature/threshold — no label needed.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60120" y="306324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 = anomaly signal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364992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sit in sparse regions and get isolated in very few splits.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57200" y="39867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60120" y="39593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261104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path length across trees converts to a score in [0, 1] — short paths mean likely fraud.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57200" y="488289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60120" y="485546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distance metric needed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5157216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 to high-dimensional, sparse transaction features, unlike DBSCAN.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7452360" y="1572768"/>
            <a:ext cx="4297680" cy="4553712"/>
          </a:xfrm>
          <a:prstGeom prst="roundRect">
            <a:avLst>
              <a:gd name="adj" fmla="val 2553"/>
            </a:avLst>
          </a:prstGeom>
          <a:solidFill>
            <a:srgbClr val="0B1F3F"/>
          </a:solidFill>
          <a:ln/>
        </p:spPr>
      </p:sp>
      <p:sp>
        <p:nvSpPr>
          <p:cNvPr id="23" name="Text 21"/>
          <p:cNvSpPr/>
          <p:nvPr/>
        </p:nvSpPr>
        <p:spPr>
          <a:xfrm>
            <a:off x="7726680" y="1755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INTUITION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26680" y="2194560"/>
            <a:ext cx="3749040" cy="2743200"/>
          </a:xfrm>
          <a:prstGeom prst="rect">
            <a:avLst/>
          </a:prstGeom>
          <a:solidFill>
            <a:srgbClr val="0F2547"/>
          </a:solidFill>
          <a:ln w="12700">
            <a:solidFill>
              <a:srgbClr val="24406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1085" y="2194560"/>
            <a:ext cx="0" cy="2743200"/>
          </a:xfrm>
          <a:prstGeom prst="line">
            <a:avLst/>
          </a:prstGeom>
          <a:noFill/>
          <a:ln w="12700">
            <a:solidFill>
              <a:srgbClr val="3A5A8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051085" y="2606040"/>
            <a:ext cx="1424635" cy="0"/>
          </a:xfrm>
          <a:prstGeom prst="line">
            <a:avLst/>
          </a:prstGeom>
          <a:noFill/>
          <a:ln w="12700">
            <a:solidFill>
              <a:srgbClr val="3A5A8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247888" y="3387852"/>
            <a:ext cx="82296" cy="82296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28" name="Shape 26"/>
          <p:cNvSpPr/>
          <p:nvPr/>
        </p:nvSpPr>
        <p:spPr>
          <a:xfrm>
            <a:off x="8510321" y="3031236"/>
            <a:ext cx="82296" cy="82296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29" name="Shape 27"/>
          <p:cNvSpPr/>
          <p:nvPr/>
        </p:nvSpPr>
        <p:spPr>
          <a:xfrm>
            <a:off x="8810244" y="3525012"/>
            <a:ext cx="82296" cy="82296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0359" y="3799332"/>
            <a:ext cx="82296" cy="82296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31" name="Shape 29"/>
          <p:cNvSpPr/>
          <p:nvPr/>
        </p:nvSpPr>
        <p:spPr>
          <a:xfrm>
            <a:off x="8997696" y="3195828"/>
            <a:ext cx="82296" cy="82296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32" name="Shape 30"/>
          <p:cNvSpPr/>
          <p:nvPr/>
        </p:nvSpPr>
        <p:spPr>
          <a:xfrm>
            <a:off x="8622792" y="2839212"/>
            <a:ext cx="82296" cy="82296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33" name="Shape 31"/>
          <p:cNvSpPr/>
          <p:nvPr/>
        </p:nvSpPr>
        <p:spPr>
          <a:xfrm>
            <a:off x="8135417" y="3195828"/>
            <a:ext cx="82296" cy="82296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34" name="Shape 32"/>
          <p:cNvSpPr/>
          <p:nvPr/>
        </p:nvSpPr>
        <p:spPr>
          <a:xfrm>
            <a:off x="9185148" y="3662172"/>
            <a:ext cx="82296" cy="82296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35" name="Shape 33"/>
          <p:cNvSpPr/>
          <p:nvPr/>
        </p:nvSpPr>
        <p:spPr>
          <a:xfrm>
            <a:off x="8735263" y="3936492"/>
            <a:ext cx="82296" cy="82296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36" name="Shape 34"/>
          <p:cNvSpPr/>
          <p:nvPr/>
        </p:nvSpPr>
        <p:spPr>
          <a:xfrm>
            <a:off x="8435340" y="2564892"/>
            <a:ext cx="82296" cy="82296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37" name="Shape 35"/>
          <p:cNvSpPr/>
          <p:nvPr/>
        </p:nvSpPr>
        <p:spPr>
          <a:xfrm>
            <a:off x="8922715" y="2702052"/>
            <a:ext cx="82296" cy="82296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38" name="Shape 36"/>
          <p:cNvSpPr/>
          <p:nvPr/>
        </p:nvSpPr>
        <p:spPr>
          <a:xfrm>
            <a:off x="8060436" y="2976372"/>
            <a:ext cx="82296" cy="82296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39" name="Shape 37"/>
          <p:cNvSpPr/>
          <p:nvPr/>
        </p:nvSpPr>
        <p:spPr>
          <a:xfrm>
            <a:off x="10849356" y="4462272"/>
            <a:ext cx="128016" cy="128016"/>
          </a:xfrm>
          <a:prstGeom prst="ellipse">
            <a:avLst/>
          </a:prstGeom>
          <a:solidFill>
            <a:srgbClr val="E859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50109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transactions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829800" y="5010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5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(fraud)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726680" y="52852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random splits are needed to isolate the outlier than to separate any point in the dense cluster.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Logistic Regression &amp; Isolation Forest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B376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Architecture: Supervised + Unsupervised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alone has a blind spot. Logistic Regression only recognises fraud patterns it has seen labelled examples of; Isolation Forest has no notion of which anomalies are actually fraud. Together they cover both failure modes.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32A5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78892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" y="3250692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108960" y="22860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182112" y="237744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82112" y="2788920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probability p(x)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3108960" y="34747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2B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356616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82112" y="3977640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a(x)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2423160" y="2816352"/>
            <a:ext cx="457200" cy="146304"/>
          </a:xfrm>
          <a:prstGeom prst="rightArrow">
            <a:avLst/>
          </a:prstGeom>
          <a:solidFill>
            <a:srgbClr val="9FB3D1"/>
          </a:solidFill>
          <a:ln/>
        </p:spPr>
      </p:sp>
      <p:sp>
        <p:nvSpPr>
          <p:cNvPr id="16" name="Shape 14"/>
          <p:cNvSpPr/>
          <p:nvPr/>
        </p:nvSpPr>
        <p:spPr>
          <a:xfrm>
            <a:off x="2423160" y="3401568"/>
            <a:ext cx="457200" cy="146304"/>
          </a:xfrm>
          <a:prstGeom prst="rightArrow">
            <a:avLst/>
          </a:prstGeom>
          <a:solidFill>
            <a:srgbClr val="9FB3D1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0840" y="283464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E8592A"/>
          </a:solidFill>
          <a:ln/>
        </p:spPr>
      </p:sp>
      <p:sp>
        <p:nvSpPr>
          <p:cNvPr id="18" name="Text 16"/>
          <p:cNvSpPr/>
          <p:nvPr/>
        </p:nvSpPr>
        <p:spPr>
          <a:xfrm>
            <a:off x="6793992" y="2926080"/>
            <a:ext cx="2139696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Fusion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93992" y="3412998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 score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080760" y="2670048"/>
            <a:ext cx="685800" cy="146304"/>
          </a:xfrm>
          <a:prstGeom prst="rightArrow">
            <a:avLst/>
          </a:prstGeom>
          <a:solidFill>
            <a:srgbClr val="9FB3D1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0760" y="3858768"/>
            <a:ext cx="685800" cy="146304"/>
          </a:xfrm>
          <a:prstGeom prst="rightArrow">
            <a:avLst/>
          </a:prstGeom>
          <a:solidFill>
            <a:srgbClr val="9FB3D1"/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0" y="265176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132A52"/>
          </a:solidFill>
          <a:ln/>
        </p:spPr>
      </p:sp>
      <p:sp>
        <p:nvSpPr>
          <p:cNvPr id="23" name="Text 21"/>
          <p:cNvSpPr/>
          <p:nvPr/>
        </p:nvSpPr>
        <p:spPr>
          <a:xfrm>
            <a:off x="9765792" y="274320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765792" y="3104388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9692640" y="35204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7A1F1F"/>
          </a:solidFill>
          <a:ln/>
        </p:spPr>
      </p:sp>
      <p:sp>
        <p:nvSpPr>
          <p:cNvPr id="26" name="Text 24"/>
          <p:cNvSpPr/>
          <p:nvPr/>
        </p:nvSpPr>
        <p:spPr>
          <a:xfrm>
            <a:off x="9765792" y="361188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Review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765792" y="3973068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9052560" y="2990088"/>
            <a:ext cx="411480" cy="146304"/>
          </a:xfrm>
          <a:prstGeom prst="rightArrow">
            <a:avLst/>
          </a:prstGeom>
          <a:solidFill>
            <a:srgbClr val="9FB3D1"/>
          </a:solidFill>
          <a:ln/>
        </p:spPr>
      </p:sp>
      <p:sp>
        <p:nvSpPr>
          <p:cNvPr id="29" name="Shape 27"/>
          <p:cNvSpPr/>
          <p:nvPr/>
        </p:nvSpPr>
        <p:spPr>
          <a:xfrm>
            <a:off x="9052560" y="3858768"/>
            <a:ext cx="411480" cy="146304"/>
          </a:xfrm>
          <a:prstGeom prst="rightArrow">
            <a:avLst/>
          </a:prstGeom>
          <a:solidFill>
            <a:srgbClr val="9FB3D1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13294B"/>
          </a:solidFill>
          <a:ln w="12700">
            <a:solidFill>
              <a:srgbClr val="2440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21208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fuse rather than choose one:  </a:t>
            </a:r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contributes precision on known fraud typologies; Isolation Forest contributes recall on novel, unseen patterns. A transaction is escalated when either signal is strong, or when both agree with moderate confidence — reducing single-model blind spots without exploding false positives.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Logistic Regression &amp; Isolation Forest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E9EE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and Scoring the Models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 / Validation / Test Split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224528" cy="502920"/>
          </a:xfrm>
          <a:prstGeom prst="rect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4224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70%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81728" y="1920240"/>
            <a:ext cx="905256" cy="502920"/>
          </a:xfrm>
          <a:prstGeom prst="rect">
            <a:avLst/>
          </a:prstGeom>
          <a:solidFill>
            <a:srgbClr val="5FA8D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920240"/>
            <a:ext cx="905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15%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86984" y="1920240"/>
            <a:ext cx="905256" cy="502920"/>
          </a:xfrm>
          <a:prstGeom prst="rect">
            <a:avLst/>
          </a:prstGeom>
          <a:solidFill>
            <a:srgbClr val="E859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6984" y="1920240"/>
            <a:ext cx="905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split preserves the true ~0.17% fraud ratio. Stratified k-fold CV tunes hyperparameters (C, contamination) on the training set only; probability calibration (Platt / isotonic) ensures a 0.9 score really means ~90% likely fraud.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713232" cy="713232"/>
          </a:xfrm>
          <a:prstGeom prst="rect">
            <a:avLst/>
          </a:prstGeom>
          <a:solidFill>
            <a:srgbClr val="2E8B5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947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70432" y="3794760"/>
            <a:ext cx="713232" cy="713232"/>
          </a:xfrm>
          <a:prstGeom prst="rect">
            <a:avLst/>
          </a:prstGeom>
          <a:solidFill>
            <a:srgbClr val="C990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37947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507992"/>
            <a:ext cx="713232" cy="713232"/>
          </a:xfrm>
          <a:prstGeom prst="rect">
            <a:avLst/>
          </a:prstGeom>
          <a:solidFill>
            <a:srgbClr val="7A1F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0799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70432" y="4507992"/>
            <a:ext cx="713232" cy="713232"/>
          </a:xfrm>
          <a:prstGeom prst="rect">
            <a:avLst/>
          </a:prstGeom>
          <a:solidFill>
            <a:srgbClr val="E859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50799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112264" y="418703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— missed fraud — is the costliest cell here.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49440" y="1572768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0B1F3F"/>
          </a:solidFill>
          <a:ln/>
        </p:spPr>
      </p:sp>
      <p:sp>
        <p:nvSpPr>
          <p:cNvPr id="24" name="Text 22"/>
          <p:cNvSpPr/>
          <p:nvPr/>
        </p:nvSpPr>
        <p:spPr>
          <a:xfrm>
            <a:off x="7059168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59168" y="19568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TP / (TP + FP)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59168" y="2468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flagged transactions, how many are truly fraud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8641080" y="1572768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0B1F3F"/>
          </a:solidFill>
          <a:ln/>
        </p:spPr>
      </p:sp>
      <p:sp>
        <p:nvSpPr>
          <p:cNvPr id="28" name="Text 26"/>
          <p:cNvSpPr/>
          <p:nvPr/>
        </p:nvSpPr>
        <p:spPr>
          <a:xfrm>
            <a:off x="8750808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750808" y="19568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TP / (TP + FN)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750808" y="2468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 fraud, how much did we catch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10332720" y="1572768"/>
            <a:ext cx="1572768" cy="1737360"/>
          </a:xfrm>
          <a:prstGeom prst="roundRect">
            <a:avLst>
              <a:gd name="adj" fmla="val 5814"/>
            </a:avLst>
          </a:prstGeom>
          <a:solidFill>
            <a:srgbClr val="0B1F3F"/>
          </a:solidFill>
          <a:ln/>
        </p:spPr>
      </p:sp>
      <p:sp>
        <p:nvSpPr>
          <p:cNvPr id="32" name="Text 30"/>
          <p:cNvSpPr/>
          <p:nvPr/>
        </p:nvSpPr>
        <p:spPr>
          <a:xfrm>
            <a:off x="10442448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442448" y="19568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2·P·R / (P+R)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442448" y="2468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balance of precision and recall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6949440" y="3474720"/>
            <a:ext cx="48006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36118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vs. PR-AUC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178040" y="393192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</a:t>
            </a:r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3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TPR vs. FPR — with 99.8% negatives, FPR stays deceptively low even with many false alarms.</a:t>
            </a:r>
            <a:endParaRPr lang="en-US" sz="10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E85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precision vs. recall and is far more sensitive to minority-class performance — the preferred metric here. Isolation Forest is judged the same way, using its thresholded anomaly score.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Logistic Regression &amp; Isolation Forest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E9EE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Results, Key Takeaways &amp; What's Next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6035040" cy="1554480"/>
        </p:xfrm>
        <a:graphic>
          <a:graphicData uri="http://schemas.openxmlformats.org/drawingml/2006/table">
            <a:tbl>
              <a:tblPr/>
              <a:tblGrid>
                <a:gridCol w="2194560"/>
                <a:gridCol w="960120"/>
                <a:gridCol w="960120"/>
                <a:gridCol w="960120"/>
                <a:gridCol w="960120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23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(fused)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2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821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benchmark pattern; actual figures depend on final tuning.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93192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6" dirty="0"/>
          </a:p>
        </p:txBody>
      </p:sp>
      <p:sp>
        <p:nvSpPr>
          <p:cNvPr id="10" name="Text 7"/>
          <p:cNvSpPr/>
          <p:nvPr/>
        </p:nvSpPr>
        <p:spPr>
          <a:xfrm>
            <a:off x="822960" y="38770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drives every design decision — metrics, sampling, loss weighting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457200" y="43708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6" dirty="0"/>
          </a:p>
        </p:txBody>
      </p:sp>
      <p:sp>
        <p:nvSpPr>
          <p:cNvPr id="13" name="Text 10"/>
          <p:cNvSpPr/>
          <p:nvPr/>
        </p:nvSpPr>
        <p:spPr>
          <a:xfrm>
            <a:off x="822960" y="43159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+ unsupervised are complementary; neither alone is sufficient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457200" y="480974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4809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6" dirty="0"/>
          </a:p>
        </p:txBody>
      </p:sp>
      <p:sp>
        <p:nvSpPr>
          <p:cNvPr id="16" name="Text 13"/>
          <p:cNvSpPr/>
          <p:nvPr/>
        </p:nvSpPr>
        <p:spPr>
          <a:xfrm>
            <a:off x="822960" y="4754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132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system wins on recall and precision alike (best F1 &amp; PR-AUC)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6903720" y="1572768"/>
            <a:ext cx="4846320" cy="4572000"/>
          </a:xfrm>
          <a:prstGeom prst="roundRect">
            <a:avLst>
              <a:gd name="adj" fmla="val 2400"/>
            </a:avLst>
          </a:prstGeom>
          <a:solidFill>
            <a:srgbClr val="0B1F3F"/>
          </a:solidFill>
          <a:ln/>
        </p:spPr>
      </p:sp>
      <p:sp>
        <p:nvSpPr>
          <p:cNvPr id="18" name="Text 15"/>
          <p:cNvSpPr/>
          <p:nvPr/>
        </p:nvSpPr>
        <p:spPr>
          <a:xfrm>
            <a:off x="7178040" y="17373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FUTURE WORK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178040" y="21488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71780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680960" y="2112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680960" y="2423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correctness between offline training and online serving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178040" y="3108960"/>
            <a:ext cx="365760" cy="365760"/>
          </a:xfrm>
          <a:prstGeom prst="ellipse">
            <a:avLst/>
          </a:prstGeom>
          <a:solidFill>
            <a:srgbClr val="E8592A"/>
          </a:solidFill>
          <a:ln/>
        </p:spPr>
      </p:sp>
      <p:sp>
        <p:nvSpPr>
          <p:cNvPr id="24" name="Text 21"/>
          <p:cNvSpPr/>
          <p:nvPr/>
        </p:nvSpPr>
        <p:spPr>
          <a:xfrm>
            <a:off x="71780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680960" y="30723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 &amp; retraining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680960" y="3383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+ drift-triggered retraining closes the lifecycle loop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178040" y="40690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5"/>
          <p:cNvSpPr/>
          <p:nvPr/>
        </p:nvSpPr>
        <p:spPr>
          <a:xfrm>
            <a:off x="71780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680960" y="40325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680960" y="4343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verdicts on flagged cases feed back as new training labels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178040" y="5029200"/>
            <a:ext cx="365760" cy="365760"/>
          </a:xfrm>
          <a:prstGeom prst="ellipse">
            <a:avLst/>
          </a:prstGeom>
          <a:solidFill>
            <a:srgbClr val="E8592A"/>
          </a:solidFill>
          <a:ln/>
        </p:spPr>
      </p:sp>
      <p:sp>
        <p:nvSpPr>
          <p:cNvPr id="32" name="Text 29"/>
          <p:cNvSpPr/>
          <p:nvPr/>
        </p:nvSpPr>
        <p:spPr>
          <a:xfrm>
            <a:off x="717804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680960" y="49926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extensions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7680960" y="5303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anomaly detection and sequence models as next steps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— Logistic Regression &amp; Isolation Forest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2026-09-18T04:42:50Z</dcterms:created>
  <dcterms:modified xsi:type="dcterms:W3CDTF">2026-09-18T04:42:50Z</dcterms:modified>
</cp:coreProperties>
</file>